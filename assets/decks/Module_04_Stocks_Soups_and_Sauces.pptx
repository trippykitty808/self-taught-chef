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youtube.com/playlist?list=PL435B8F0CB00AF764" TargetMode="External"/><Relationship Id="rId3" Type="http://schemas.openxmlformats.org/officeDocument/2006/relationships/hyperlink" Target="https://jp.foundation/video-series/complete-pepin" TargetMode="External"/><Relationship Id="rId4" Type="http://schemas.openxmlformats.org/officeDocument/2006/relationships/hyperlink" Target="https://www.youtube.com/@BrianLagerstr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F0E6D2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Oval 3"/>
          <p:cNvSpPr/>
          <p:nvPr/>
        </p:nvSpPr>
        <p:spPr>
          <a:xfrm>
            <a:off x="9784080" y="640080"/>
            <a:ext cx="1828800" cy="1828800"/>
          </a:xfrm>
          <a:prstGeom prst="ellipse">
            <a:avLst/>
          </a:prstGeom>
          <a:solidFill>
            <a:srgbClr val="2B2118"/>
          </a:solidFill>
          <a:ln w="31750">
            <a:solidFill>
              <a:srgbClr val="D8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12680" y="868680"/>
            <a:ext cx="1371600" cy="1371600"/>
          </a:xfrm>
          <a:prstGeom prst="ellipse">
            <a:avLst/>
          </a:prstGeom>
          <a:solidFill>
            <a:srgbClr val="2B2118"/>
          </a:solidFill>
          <a:ln w="1524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0" y="1280160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600" b="0" i="1">
                <a:solidFill>
                  <a:srgbClr val="D8A24A"/>
                </a:solidFill>
                <a:latin typeface="Georgia"/>
              </a:rPr>
              <a:t>chef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57400"/>
            <a:ext cx="8778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600" b="1" i="0">
                <a:solidFill>
                  <a:srgbClr val="D8A24A"/>
                </a:solidFill>
                <a:latin typeface="Calibri"/>
              </a:rPr>
              <a:t>FROM ZERO TO PRO  -  MODULE 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4600" b="1" i="0">
                <a:solidFill>
                  <a:srgbClr val="FBF6EC"/>
                </a:solidFill>
                <a:latin typeface="Georgia"/>
              </a:rPr>
              <a:t>Stocks, Soups &amp; the Five Mother Sauces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526280"/>
            <a:ext cx="9966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000" b="0" i="1">
                <a:solidFill>
                  <a:srgbClr val="F0E6D2"/>
                </a:solidFill>
                <a:latin typeface="Calibri"/>
              </a:rPr>
              <a:t>Stocks, roux, and the five mother sauces are the classical backbone of most Western cooking.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0" i="0">
                <a:solidFill>
                  <a:srgbClr val="B5651D"/>
                </a:solidFill>
                <a:latin typeface="Calibri"/>
              </a:rPr>
              <a:t>Weeks 7-8  -  watch, study, cook, reflect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D352B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MODULE 04  -  WEEKS 7-8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3000" b="1" i="0">
                <a:solidFill>
                  <a:srgbClr val="2B2118"/>
                </a:solidFill>
                <a:latin typeface="Georgia"/>
              </a:rPr>
              <a:t>By the end of this module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2057400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391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800" b="1" i="0">
                <a:solidFill>
                  <a:srgbClr val="FBF6EC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020824"/>
            <a:ext cx="9875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50" b="0" i="0">
                <a:solidFill>
                  <a:srgbClr val="3D352B"/>
                </a:solidFill>
                <a:latin typeface="Calibri"/>
              </a:rPr>
              <a:t>Make clear stock and understand the roux.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2898648"/>
            <a:ext cx="457200" cy="457200"/>
          </a:xfrm>
          <a:prstGeom prst="ellipse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8803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800" b="1" i="0">
                <a:solidFill>
                  <a:srgbClr val="FBF6EC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862072"/>
            <a:ext cx="9875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50" b="0" i="0">
                <a:solidFill>
                  <a:srgbClr val="3D352B"/>
                </a:solidFill>
                <a:latin typeface="Calibri"/>
              </a:rPr>
              <a:t>Produce the five mother sauces and several derivatives.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3739896"/>
            <a:ext cx="457200" cy="457200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72160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800" b="1" i="0">
                <a:solidFill>
                  <a:srgbClr val="FBF6EC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3703320"/>
            <a:ext cx="9875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50" b="0" i="0">
                <a:solidFill>
                  <a:srgbClr val="3D352B"/>
                </a:solidFill>
                <a:latin typeface="Calibri"/>
              </a:rPr>
              <a:t>Build soups: pureed, brothy, and creamed.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4581144"/>
            <a:ext cx="457200" cy="4572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56285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800" b="1" i="0">
                <a:solidFill>
                  <a:srgbClr val="FBF6EC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544568"/>
            <a:ext cx="98755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50" b="0" i="0">
                <a:solidFill>
                  <a:srgbClr val="3D352B"/>
                </a:solidFill>
                <a:latin typeface="Calibri"/>
              </a:rPr>
              <a:t>Balance, season, and adjust a sauce to finish.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D352B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LESSON 4.1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 i="0">
                <a:solidFill>
                  <a:srgbClr val="2B2118"/>
                </a:solidFill>
                <a:latin typeface="Georgia"/>
              </a:rPr>
              <a:t>Stocks: The Foundation of Flavor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50" b="0" i="1">
                <a:solidFill>
                  <a:srgbClr val="6B8E5A"/>
                </a:solidFill>
                <a:latin typeface="Calibri"/>
              </a:rPr>
              <a:t>Objective: Make a clear, flavorful stock from bones and aromatics.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5486400" cy="3840480"/>
          </a:xfrm>
          <a:prstGeom prst="roundRect">
            <a:avLst/>
          </a:prstGeom>
          <a:solidFill>
            <a:srgbClr val="F0E6D2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54203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99232"/>
            <a:ext cx="498348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Start in cold water and heat slowly for a clear stock.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Simmer gently and skim; a hard boil makes it cloudy and greasy.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Mirepoix (onion, carrot, celery, 2:1:1) is the standard aromatic base.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Reduce hard to make glace - intense, freezable flavor.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2331720"/>
            <a:ext cx="48463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2542032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B5651D"/>
                </a:solidFill>
                <a:latin typeface="Calibri"/>
              </a:rPr>
              <a:t>Technique</a:t>
            </a:r>
          </a:p>
        </p:txBody>
      </p:sp>
      <p:sp>
        <p:nvSpPr>
          <p:cNvPr id="12" name="Oval 11"/>
          <p:cNvSpPr/>
          <p:nvPr/>
        </p:nvSpPr>
        <p:spPr>
          <a:xfrm>
            <a:off x="6766560" y="2999232"/>
            <a:ext cx="365760" cy="36576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298094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2971800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Combine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3264408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Cover bones and mirepoix with cold water.</a:t>
            </a:r>
          </a:p>
        </p:txBody>
      </p:sp>
      <p:sp>
        <p:nvSpPr>
          <p:cNvPr id="16" name="Oval 15"/>
          <p:cNvSpPr/>
          <p:nvPr/>
        </p:nvSpPr>
        <p:spPr>
          <a:xfrm>
            <a:off x="6766560" y="3758183"/>
            <a:ext cx="365760" cy="36576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3739896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3730751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Heat slowly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4023359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Bring up to a bare simmer, never a boil.</a:t>
            </a:r>
          </a:p>
        </p:txBody>
      </p:sp>
      <p:sp>
        <p:nvSpPr>
          <p:cNvPr id="20" name="Oval 19"/>
          <p:cNvSpPr/>
          <p:nvPr/>
        </p:nvSpPr>
        <p:spPr>
          <a:xfrm>
            <a:off x="6766560" y="4517136"/>
            <a:ext cx="365760" cy="36576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449884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4489703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Skim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4782312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Remove foam and fat as they rise to the top.</a:t>
            </a:r>
          </a:p>
        </p:txBody>
      </p:sp>
      <p:sp>
        <p:nvSpPr>
          <p:cNvPr id="24" name="Oval 23"/>
          <p:cNvSpPr/>
          <p:nvPr/>
        </p:nvSpPr>
        <p:spPr>
          <a:xfrm>
            <a:off x="6766560" y="5276088"/>
            <a:ext cx="365760" cy="36576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525780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5248655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Strain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5541264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After several hours, strain and cool quickly.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D352B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LESSON 4.2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 i="0">
                <a:solidFill>
                  <a:srgbClr val="2B2118"/>
                </a:solidFill>
                <a:latin typeface="Georgia"/>
              </a:rPr>
              <a:t>Roux and Thickening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50" b="0" i="1">
                <a:solidFill>
                  <a:srgbClr val="6B8E5A"/>
                </a:solidFill>
                <a:latin typeface="Calibri"/>
              </a:rPr>
              <a:t>Objective: Cook roux to the right color and thicken liquids smoothly.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5486400" cy="3840480"/>
          </a:xfrm>
          <a:prstGeom prst="roundRect">
            <a:avLst/>
          </a:prstGeom>
          <a:solidFill>
            <a:srgbClr val="F0E6D2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54203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99232"/>
            <a:ext cx="498348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Roux = 1:1 fat to flour by weight.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White, blond, and brown roux: darker = more flavor but less thickening power.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Avoid lumps: contrast temperatures and whisk constantly.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Cook out the raw-flour taste before judging the sauce.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2331720"/>
            <a:ext cx="48463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2542032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B5651D"/>
                </a:solidFill>
                <a:latin typeface="Calibri"/>
              </a:rPr>
              <a:t>Technique</a:t>
            </a:r>
          </a:p>
        </p:txBody>
      </p:sp>
      <p:sp>
        <p:nvSpPr>
          <p:cNvPr id="12" name="Oval 11"/>
          <p:cNvSpPr/>
          <p:nvPr/>
        </p:nvSpPr>
        <p:spPr>
          <a:xfrm>
            <a:off x="6766560" y="2999232"/>
            <a:ext cx="365760" cy="365760"/>
          </a:xfrm>
          <a:prstGeom prst="ellipse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298094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2971800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Melt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3264408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Melt fat (usually butter) over medium heat.</a:t>
            </a:r>
          </a:p>
        </p:txBody>
      </p:sp>
      <p:sp>
        <p:nvSpPr>
          <p:cNvPr id="16" name="Oval 15"/>
          <p:cNvSpPr/>
          <p:nvPr/>
        </p:nvSpPr>
        <p:spPr>
          <a:xfrm>
            <a:off x="6766560" y="3758183"/>
            <a:ext cx="365760" cy="365760"/>
          </a:xfrm>
          <a:prstGeom prst="ellipse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3739896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3730751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Stir in flour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4023359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Add equal weight of flour; stir into a smooth paste.</a:t>
            </a:r>
          </a:p>
        </p:txBody>
      </p:sp>
      <p:sp>
        <p:nvSpPr>
          <p:cNvPr id="20" name="Oval 19"/>
          <p:cNvSpPr/>
          <p:nvPr/>
        </p:nvSpPr>
        <p:spPr>
          <a:xfrm>
            <a:off x="6766560" y="4517136"/>
            <a:ext cx="365760" cy="365760"/>
          </a:xfrm>
          <a:prstGeom prst="ellipse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449884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4489703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Cook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4782312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Cook to the color you want, stirring.</a:t>
            </a:r>
          </a:p>
        </p:txBody>
      </p:sp>
      <p:sp>
        <p:nvSpPr>
          <p:cNvPr id="24" name="Oval 23"/>
          <p:cNvSpPr/>
          <p:nvPr/>
        </p:nvSpPr>
        <p:spPr>
          <a:xfrm>
            <a:off x="6766560" y="5276088"/>
            <a:ext cx="365760" cy="365760"/>
          </a:xfrm>
          <a:prstGeom prst="ellipse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525780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5248655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Add liquid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5541264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Whisk in liquid gradually and bring to a simmer to thicken.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D352B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LESSON 4.3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 i="0">
                <a:solidFill>
                  <a:srgbClr val="2B2118"/>
                </a:solidFill>
                <a:latin typeface="Georgia"/>
              </a:rPr>
              <a:t>The Five Mother Sauces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50" b="0" i="1">
                <a:solidFill>
                  <a:srgbClr val="6B8E5A"/>
                </a:solidFill>
                <a:latin typeface="Calibri"/>
              </a:rPr>
              <a:t>Objective: Produce the five classical mother sauces and a derivative of each.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5486400" cy="3840480"/>
          </a:xfrm>
          <a:prstGeom prst="roundRect">
            <a:avLst/>
          </a:prstGeom>
          <a:solidFill>
            <a:srgbClr val="F0E6D2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54203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99232"/>
            <a:ext cx="498348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6B8E5A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Bechamel = milk + white roux.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6B8E5A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Veloute = white stock + blond roux; Espagnole = brown stock + brown roux + tomato.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6B8E5A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Tomato = tomatoes + aromatics; Hollandaise = yolk + butter + acid emulsion.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6B8E5A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Derivatives are small additions to a mother (e.g., mornay = bechamel + cheese).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2331720"/>
            <a:ext cx="48463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2542032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B5651D"/>
                </a:solidFill>
                <a:latin typeface="Calibri"/>
              </a:rPr>
              <a:t>Watch out for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3017520"/>
            <a:ext cx="429768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Breaking hollandaise by adding butter too fast or letting it get too hot.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Under-seasoning a bechamel - milk sauces need salt and nutmeg.</a:t>
            </a:r>
          </a:p>
          <a:p>
            <a:pPr>
              <a:lnSpc>
                <a:spcPct val="105000"/>
              </a:lnSpc>
              <a:spcAft>
                <a:spcPts val="900"/>
              </a:spcAft>
            </a:pPr>
            <a:r>
              <a:rPr sz="1350" b="1">
                <a:solidFill>
                  <a:srgbClr val="B5651D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Skipping the cook-out so the sauce tastes of raw flour.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D352B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LESSON 4.4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700" b="1" i="0">
                <a:solidFill>
                  <a:srgbClr val="2B2118"/>
                </a:solidFill>
                <a:latin typeface="Georgia"/>
              </a:rPr>
              <a:t>Soups, Emulsions, and Rescues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50" b="0" i="1">
                <a:solidFill>
                  <a:srgbClr val="6B8E5A"/>
                </a:solidFill>
                <a:latin typeface="Calibri"/>
              </a:rPr>
              <a:t>Objective: Build soups, understand emulsions, and fix a broken sauce.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331720"/>
            <a:ext cx="5486400" cy="3840480"/>
          </a:xfrm>
          <a:prstGeom prst="roundRect">
            <a:avLst/>
          </a:prstGeom>
          <a:solidFill>
            <a:srgbClr val="F0E6D2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54203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</a:rPr>
              <a:t>Key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99232"/>
            <a:ext cx="4983480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Soup shapes: brothy, pureed, creamed - all begin by sweating aromatics.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Season soups at the end and taste repeatedly as they reduce.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Emulsions break from speed or wrong temperature.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- </a:t>
            </a:r>
            <a:r>
              <a:rPr sz="1350">
                <a:solidFill>
                  <a:srgbClr val="3D352B"/>
                </a:solidFill>
                <a:latin typeface="Calibri"/>
              </a:rPr>
              <a:t>Rescue a break by re-emulsifying slowly into a fresh base.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2331720"/>
            <a:ext cx="484632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2542032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B5651D"/>
                </a:solidFill>
                <a:latin typeface="Calibri"/>
              </a:rPr>
              <a:t>Technique</a:t>
            </a:r>
          </a:p>
        </p:txBody>
      </p:sp>
      <p:sp>
        <p:nvSpPr>
          <p:cNvPr id="12" name="Oval 11"/>
          <p:cNvSpPr/>
          <p:nvPr/>
        </p:nvSpPr>
        <p:spPr>
          <a:xfrm>
            <a:off x="6766560" y="2999232"/>
            <a:ext cx="365760" cy="36576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2980944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2971800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Sweat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3264408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Soften aromatics in fat without browning.</a:t>
            </a:r>
          </a:p>
        </p:txBody>
      </p:sp>
      <p:sp>
        <p:nvSpPr>
          <p:cNvPr id="16" name="Oval 15"/>
          <p:cNvSpPr/>
          <p:nvPr/>
        </p:nvSpPr>
        <p:spPr>
          <a:xfrm>
            <a:off x="6766560" y="3758183"/>
            <a:ext cx="365760" cy="36576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3739896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3730751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Simmer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4023359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Add liquid and main ingredients; cook until tender.</a:t>
            </a:r>
          </a:p>
        </p:txBody>
      </p:sp>
      <p:sp>
        <p:nvSpPr>
          <p:cNvPr id="20" name="Oval 19"/>
          <p:cNvSpPr/>
          <p:nvPr/>
        </p:nvSpPr>
        <p:spPr>
          <a:xfrm>
            <a:off x="6766560" y="4517136"/>
            <a:ext cx="365760" cy="36576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4498848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4489703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Blend or leave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4782312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Puree for a smooth soup, or leave brothy.</a:t>
            </a:r>
          </a:p>
        </p:txBody>
      </p:sp>
      <p:sp>
        <p:nvSpPr>
          <p:cNvPr id="24" name="Oval 23"/>
          <p:cNvSpPr/>
          <p:nvPr/>
        </p:nvSpPr>
        <p:spPr>
          <a:xfrm>
            <a:off x="6766560" y="5276088"/>
            <a:ext cx="365760" cy="36576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5257800"/>
            <a:ext cx="3657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FBF6EC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5248655"/>
            <a:ext cx="37947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 i="0">
                <a:solidFill>
                  <a:srgbClr val="2B2118"/>
                </a:solidFill>
                <a:latin typeface="Calibri"/>
              </a:rPr>
              <a:t>Finish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5541264"/>
            <a:ext cx="3794760" cy="4663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100" b="0" i="0">
                <a:solidFill>
                  <a:srgbClr val="3D352B"/>
                </a:solidFill>
                <a:latin typeface="Calibri"/>
              </a:rPr>
              <a:t>Adjust salt and acid; enrich with cream if desired.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D352B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MODULE 04  -  WEEKS 7-8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3000" b="1" i="0">
                <a:solidFill>
                  <a:srgbClr val="2B2118"/>
                </a:solidFill>
                <a:latin typeface="Georgia"/>
              </a:rPr>
              <a:t>Practice &amp;  homework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3429000" cy="3383280"/>
          </a:xfrm>
          <a:prstGeom prst="roundRect">
            <a:avLst/>
          </a:prstGeom>
          <a:solidFill>
            <a:srgbClr val="F0E6D2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" y="2423160"/>
            <a:ext cx="548640" cy="54864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200" b="1" i="0">
                <a:solidFill>
                  <a:srgbClr val="FBF6EC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200400"/>
            <a:ext cx="29260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0" i="0">
                <a:solidFill>
                  <a:srgbClr val="3D352B"/>
                </a:solidFill>
                <a:latin typeface="Calibri"/>
              </a:rPr>
              <a:t>Make one stock from scratch and reduce part of it to a glace.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429000" cy="3383280"/>
          </a:xfrm>
          <a:prstGeom prst="roundRect">
            <a:avLst/>
          </a:prstGeom>
          <a:solidFill>
            <a:srgbClr val="F0E6D2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754880" y="2423160"/>
            <a:ext cx="548640" cy="548640"/>
          </a:xfrm>
          <a:prstGeom prst="ellipse">
            <a:avLst/>
          </a:prstGeom>
          <a:solidFill>
            <a:srgbClr val="B565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242316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200" b="1" i="0">
                <a:solidFill>
                  <a:srgbClr val="FBF6EC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200400"/>
            <a:ext cx="29260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0" i="0">
                <a:solidFill>
                  <a:srgbClr val="3D352B"/>
                </a:solidFill>
                <a:latin typeface="Calibri"/>
              </a:rPr>
              <a:t>Produce a bechamel and turn it into a mornay; note the ratio you used.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2148840"/>
            <a:ext cx="3429000" cy="3383280"/>
          </a:xfrm>
          <a:prstGeom prst="roundRect">
            <a:avLst/>
          </a:prstGeom>
          <a:solidFill>
            <a:srgbClr val="F0E6D2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12480" y="2423160"/>
            <a:ext cx="548640" cy="548640"/>
          </a:xfrm>
          <a:prstGeom prst="ellipse">
            <a:avLst/>
          </a:prstGeom>
          <a:solidFill>
            <a:srgbClr val="6B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2423160"/>
            <a:ext cx="5486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200" b="1" i="0">
                <a:solidFill>
                  <a:srgbClr val="FBF6EC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200400"/>
            <a:ext cx="29260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0" i="0">
                <a:solidFill>
                  <a:srgbClr val="3D352B"/>
                </a:solidFill>
                <a:latin typeface="Calibri"/>
              </a:rPr>
              <a:t>Make and rescue a deliberately 'broken' hollandaise.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3D352B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MODULE 04  -  WEEKS 7-8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41248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3000" b="1" i="0">
                <a:solidFill>
                  <a:srgbClr val="2B2118"/>
                </a:solidFill>
                <a:latin typeface="Georgia"/>
              </a:rPr>
              <a:t>Watch &amp;  learn (free)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10515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" y="2331720"/>
            <a:ext cx="457200" cy="457200"/>
          </a:xfrm>
          <a:prstGeom prst="ellipse">
            <a:avLst/>
          </a:prstGeom>
          <a:solidFill>
            <a:srgbClr val="2B2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Isosceles Triangle 7"/>
          <p:cNvSpPr/>
          <p:nvPr/>
        </p:nvSpPr>
        <p:spPr>
          <a:xfrm rot="5400000">
            <a:off x="1252728" y="2423160"/>
            <a:ext cx="164592" cy="256032"/>
          </a:xfrm>
          <a:prstGeom prst="triangle">
            <a:avLst/>
          </a:prstGeom>
          <a:solidFill>
            <a:srgbClr val="D8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83080" y="2249424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  <a:hlinkClick r:id="rId2"/>
              </a:rPr>
              <a:t>Jacques Pepin - Techniques &amp; More (KQED)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2606039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0" i="0">
                <a:solidFill>
                  <a:srgbClr val="B5651D"/>
                </a:solidFill>
                <a:latin typeface="Calibri"/>
                <a:hlinkClick r:id="rId2"/>
              </a:rPr>
              <a:t>https://www.youtube.com/playlist?list=PL435B8F0CB00AF764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163824"/>
            <a:ext cx="10515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97280" y="3392424"/>
            <a:ext cx="457200" cy="457200"/>
          </a:xfrm>
          <a:prstGeom prst="ellipse">
            <a:avLst/>
          </a:prstGeom>
          <a:solidFill>
            <a:srgbClr val="2B2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 rot="5400000">
            <a:off x="1252728" y="3483864"/>
            <a:ext cx="164592" cy="256032"/>
          </a:xfrm>
          <a:prstGeom prst="triangle">
            <a:avLst/>
          </a:prstGeom>
          <a:solidFill>
            <a:srgbClr val="D8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83080" y="3310128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  <a:hlinkClick r:id="rId3"/>
              </a:rPr>
              <a:t>The Complete Pepin Archive (Jacques Pepin Foundation)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3666744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0" i="0">
                <a:solidFill>
                  <a:srgbClr val="B5651D"/>
                </a:solidFill>
                <a:latin typeface="Calibri"/>
                <a:hlinkClick r:id="rId3"/>
              </a:rPr>
              <a:t>https://jp.foundation/video-series/complete-pepin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224528"/>
            <a:ext cx="10515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C9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97280" y="4453128"/>
            <a:ext cx="457200" cy="457200"/>
          </a:xfrm>
          <a:prstGeom prst="ellipse">
            <a:avLst/>
          </a:prstGeom>
          <a:solidFill>
            <a:srgbClr val="2B2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 rot="5400000">
            <a:off x="1252728" y="4544568"/>
            <a:ext cx="164592" cy="256032"/>
          </a:xfrm>
          <a:prstGeom prst="triangle">
            <a:avLst/>
          </a:prstGeom>
          <a:solidFill>
            <a:srgbClr val="D8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83080" y="4370832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 i="0">
                <a:solidFill>
                  <a:srgbClr val="C0392B"/>
                </a:solidFill>
                <a:latin typeface="Calibri"/>
                <a:hlinkClick r:id="rId4"/>
              </a:rPr>
              <a:t>Brian Lagerstrom (ex-restaurant pro, approachable)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80" y="4727448"/>
            <a:ext cx="9326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0" i="0">
                <a:solidFill>
                  <a:srgbClr val="B5651D"/>
                </a:solidFill>
                <a:latin typeface="Calibri"/>
                <a:hlinkClick r:id="rId4"/>
              </a:rPr>
              <a:t>https://www.youtube.com/@BrianLagerstrom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1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510528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 i="0">
                <a:solidFill>
                  <a:srgbClr val="F0E6D2"/>
                </a:solidFill>
                <a:latin typeface="Calibri"/>
              </a:rPr>
              <a:t>© 2026 Tin Roof Tek, LLC</a:t>
            </a:r>
          </a:p>
        </p:txBody>
      </p:sp>
      <p:sp>
        <p:nvSpPr>
          <p:cNvPr id="4" name="Oval 3"/>
          <p:cNvSpPr/>
          <p:nvPr/>
        </p:nvSpPr>
        <p:spPr>
          <a:xfrm>
            <a:off x="5175504" y="1234440"/>
            <a:ext cx="1828800" cy="1828800"/>
          </a:xfrm>
          <a:prstGeom prst="ellipse">
            <a:avLst/>
          </a:prstGeom>
          <a:solidFill>
            <a:srgbClr val="2B2118"/>
          </a:solidFill>
          <a:ln w="31750">
            <a:solidFill>
              <a:srgbClr val="D8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404104" y="1463040"/>
            <a:ext cx="1371600" cy="1371600"/>
          </a:xfrm>
          <a:prstGeom prst="ellipse">
            <a:avLst/>
          </a:prstGeom>
          <a:solidFill>
            <a:srgbClr val="2B2118"/>
          </a:solidFill>
          <a:ln w="1524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75504" y="1828800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600" b="0" i="1">
                <a:solidFill>
                  <a:srgbClr val="D8A24A"/>
                </a:solidFill>
                <a:latin typeface="Georgia"/>
              </a:rPr>
              <a:t>chef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6616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2600" b="1" i="1">
                <a:solidFill>
                  <a:srgbClr val="FBF6EC"/>
                </a:solidFill>
                <a:latin typeface="Georgia"/>
              </a:rPr>
              <a:t>Stocks, roux, and the five mother sauces are the classical backbone of most Western cooking.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00600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700" b="0" i="0">
                <a:solidFill>
                  <a:srgbClr val="F0E6D2"/>
                </a:solidFill>
                <a:latin typeface="Calibri"/>
              </a:rPr>
              <a:t>Next up - Module 05: Eggs, Dairy &amp; Breakfast Mastery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612648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200" b="1" i="0">
                <a:solidFill>
                  <a:srgbClr val="B5651D"/>
                </a:solidFill>
                <a:latin typeface="Calibri"/>
              </a:rPr>
              <a:t>FROM ZERO TO PRO  -  THE SELF-TAUGHT CHEF PROGRAM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