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F0E6D2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Oval 3"/>
          <p:cNvSpPr/>
          <p:nvPr/>
        </p:nvSpPr>
        <p:spPr>
          <a:xfrm>
            <a:off x="9784080" y="640080"/>
            <a:ext cx="1828800" cy="1828800"/>
          </a:xfrm>
          <a:prstGeom prst="ellipse">
            <a:avLst/>
          </a:prstGeom>
          <a:solidFill>
            <a:srgbClr val="2B2118"/>
          </a:solidFill>
          <a:ln w="31750">
            <a:solidFill>
              <a:srgbClr val="D8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12680" y="868680"/>
            <a:ext cx="1371600" cy="1371600"/>
          </a:xfrm>
          <a:prstGeom prst="ellipse">
            <a:avLst/>
          </a:prstGeom>
          <a:solidFill>
            <a:srgbClr val="2B2118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0" y="128016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0" i="1">
                <a:solidFill>
                  <a:srgbClr val="D8A24A"/>
                </a:solidFill>
                <a:latin typeface="Georgia"/>
              </a:rPr>
              <a:t>chef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 i="0">
                <a:solidFill>
                  <a:srgbClr val="D8A24A"/>
                </a:solidFill>
                <a:latin typeface="Calibri"/>
              </a:rPr>
              <a:t>FROM ZERO TO PRO  -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600" b="1" i="0">
                <a:solidFill>
                  <a:srgbClr val="FBF6EC"/>
                </a:solidFill>
                <a:latin typeface="Georgia"/>
              </a:rPr>
              <a:t>Proteins II: Fish &amp; Seafood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0" i="1">
                <a:solidFill>
                  <a:srgbClr val="F0E6D2"/>
                </a:solidFill>
                <a:latin typeface="Calibri"/>
              </a:rPr>
              <a:t>Seafood is delicate, fast, and unforgiving of overcooking; learn to buy, store, and cook it with confidence.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Week 14  -  watch, study, cook, reflect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08  -  WEEK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By the end of this module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0574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020824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Judge freshness and store seafood correctly.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898648"/>
            <a:ext cx="457200" cy="45720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62072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Pan-sear fish for crisp skin; poach and steam delicate fillets.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739896"/>
            <a:ext cx="457200" cy="45720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216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0332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Cook shellfish (shrimp, mussels, scallops) to just-done.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581144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6285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544568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Portion a fillet and remove pin bones.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8.1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Buying and Storing Seafood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Choose fresh seafood and store it correctly.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Fresh fish smells briny and clean, never sour; flesh is firm and springy.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Frozen-at-sea fish can beat tired 'fresh' fish at the counter.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Store cold, dry, and well-wrapped; cook within a day or two.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Buy when it is freshest and plan the meal around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Watch out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1752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Buying fish that smells strongly fishy or looks dull and gaping.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Letting seafood sit warm or swim in its own liquid.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Holding fresh fish for days before cooking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8.2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Pan-Searing Fish for Crisp Skin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Get crisp skin and a moist interior on a fillet.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Dry skin + preheated pan + a brief press = crisp, flat skin.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Cook mostly on the skin side; flip only to finish.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Pull fish a little early - it cooks on off heat.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Done = opaque and just-firm, flaking but still juicy.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Technique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0" y="2999232"/>
            <a:ext cx="365760" cy="36576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98094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971800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Dry and season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264408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Pat the fillet bone-dry; salt the skin.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3758183"/>
            <a:ext cx="365760" cy="36576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7398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730751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Lay skin-down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023359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Place into a hot, oiled pan, skin-side down.</a:t>
            </a:r>
          </a:p>
        </p:txBody>
      </p:sp>
      <p:sp>
        <p:nvSpPr>
          <p:cNvPr id="20" name="Oval 19"/>
          <p:cNvSpPr/>
          <p:nvPr/>
        </p:nvSpPr>
        <p:spPr>
          <a:xfrm>
            <a:off x="6766560" y="4517136"/>
            <a:ext cx="365760" cy="36576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49884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489703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Press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4782312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Press gently for a few seconds so the skin stays flat.</a:t>
            </a:r>
          </a:p>
        </p:txBody>
      </p:sp>
      <p:sp>
        <p:nvSpPr>
          <p:cNvPr id="24" name="Oval 23"/>
          <p:cNvSpPr/>
          <p:nvPr/>
        </p:nvSpPr>
        <p:spPr>
          <a:xfrm>
            <a:off x="6766560" y="5276088"/>
            <a:ext cx="365760" cy="36576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52578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5248655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Flip late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541264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Cook through on the skin, then flip briefly to finish.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8.3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Poaching and Steaming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Cook delicate fish gently in liquid or vapor.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Poach in barely-simmering liquid; never let it boil hard.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Court bouillon (aromatic poaching liquid) adds flavor and becomes a sauce.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Steaming preserves texture and takes well to aromatics.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Stop as soon as the flesh turns opaque.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Watch out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1752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Boiling the poaching liquid, which toughens and shreds the fish.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Over-steaming until the fish is dry.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Crowding the steamer so it cooks unevenly.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8.4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Shellfish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Cook shrimp, mussels, and scallops to just-done.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Shrimp: a loose C and opaque flesh is done; a tight O is overcooked.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Mussels/clams steam open in minutes; discard any that stay shut.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Use the broth shellfish release as an instant sauce.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Scallops: bone-dry, hot pan, hard sear, barely-warm center.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Technique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0" y="2999232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98094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971800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Dry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264408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Pat shellfish very dry for searing; rinse and debeard mussels.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3758183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7398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730751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High heat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023359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Use a hot pan for scallops; a covered pot for mussels.</a:t>
            </a:r>
          </a:p>
        </p:txBody>
      </p:sp>
      <p:sp>
        <p:nvSpPr>
          <p:cNvPr id="20" name="Oval 19"/>
          <p:cNvSpPr/>
          <p:nvPr/>
        </p:nvSpPr>
        <p:spPr>
          <a:xfrm>
            <a:off x="6766560" y="4517136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49884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489703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Watch closely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4782312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Pull shrimp/scallops at just-done; mussels when open.</a:t>
            </a:r>
          </a:p>
        </p:txBody>
      </p:sp>
      <p:sp>
        <p:nvSpPr>
          <p:cNvPr id="24" name="Oval 23"/>
          <p:cNvSpPr/>
          <p:nvPr/>
        </p:nvSpPr>
        <p:spPr>
          <a:xfrm>
            <a:off x="6766560" y="5276088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52578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5248655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Sauce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541264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Build a quick pan broth from the released liquid.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08  -  WEEK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Practice &amp;  homework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423160"/>
            <a:ext cx="548640" cy="5486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Pan-sear a skin-on fillet to crisp skin without tearing.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54880" y="2423160"/>
            <a:ext cx="548640" cy="54864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Steam mussels and build a quick pan broth to serve with bread.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0" y="2423160"/>
            <a:ext cx="548640" cy="54864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Cook scallops with a proper sear and a barely-warm center.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08  -  WEEK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Watch &amp;  learn (free)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331720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1252728" y="2423160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224942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America's Test Kitchen (tested technique)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06039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https://www.youtube.com/@AmericasTestKitchen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63824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3392424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1252728" y="3483864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Ethan Chlebowski (the 'why' behind cooking)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666744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https://www.youtube.com/@EthanChlebowski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24528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7280" y="4453128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252728" y="4544568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4370832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ChefSteps (modern technique &amp; sous vide)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727448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https://www.youtube.com/channel/UCxD2E-bVoUbaVFL0Q3PvJTg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F0E6D2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Oval 3"/>
          <p:cNvSpPr/>
          <p:nvPr/>
        </p:nvSpPr>
        <p:spPr>
          <a:xfrm>
            <a:off x="5175504" y="1234440"/>
            <a:ext cx="1828800" cy="1828800"/>
          </a:xfrm>
          <a:prstGeom prst="ellipse">
            <a:avLst/>
          </a:prstGeom>
          <a:solidFill>
            <a:srgbClr val="2B2118"/>
          </a:solidFill>
          <a:ln w="31750">
            <a:solidFill>
              <a:srgbClr val="D8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04104" y="1463040"/>
            <a:ext cx="1371600" cy="1371600"/>
          </a:xfrm>
          <a:prstGeom prst="ellipse">
            <a:avLst/>
          </a:prstGeom>
          <a:solidFill>
            <a:srgbClr val="2B2118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75504" y="182880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0" i="1">
                <a:solidFill>
                  <a:srgbClr val="D8A24A"/>
                </a:solidFill>
                <a:latin typeface="Georgia"/>
              </a:rPr>
              <a:t>chef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 i="1">
                <a:solidFill>
                  <a:srgbClr val="FBF6EC"/>
                </a:solidFill>
                <a:latin typeface="Georgia"/>
              </a:rPr>
              <a:t>Seafood is delicate, fast, and unforgiving of overcooking; learn to buy, store, and cook it with confidence.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006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700" b="0" i="0">
                <a:solidFill>
                  <a:srgbClr val="F0E6D2"/>
                </a:solidFill>
                <a:latin typeface="Calibri"/>
              </a:rPr>
              <a:t>Next up - Module 09: Baking &amp; Pastry Fundamentals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FROM ZERO TO PRO  -  THE SELF-TAUGHT CHEF PROGRAM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