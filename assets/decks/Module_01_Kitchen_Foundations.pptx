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9784080" y="64008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86868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0" y="128016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 i="0">
                <a:solidFill>
                  <a:srgbClr val="D8A24A"/>
                </a:solidFill>
                <a:latin typeface="Calibri"/>
              </a:rPr>
              <a:t>FROM ZERO TO PRO  -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600" b="1" i="0">
                <a:solidFill>
                  <a:srgbClr val="FBF6EC"/>
                </a:solidFill>
                <a:latin typeface="Georgia"/>
              </a:rPr>
              <a:t>Kitchen Foundations: Safety, Sanitation &amp;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0" i="1">
                <a:solidFill>
                  <a:srgbClr val="F0E6D2"/>
                </a:solidFill>
                <a:latin typeface="Calibri"/>
              </a:rPr>
              <a:t>A safe, clean, organized kitchen is the platform every other skill stands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Weeks 1-2  -  watch, study, cook, reflect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01  -  WEEKS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By the end of this module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39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2082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Practice the core rules of food safety: the temperature danger zone, cross-contamination, and FIFO storage.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6207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Set up an efficient, sanitary workstation and clean as you go.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39896"/>
            <a:ext cx="457200" cy="45720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21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0332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Identify the essential tools and how to maintain them.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581144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8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54456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0" i="0">
                <a:solidFill>
                  <a:srgbClr val="3D352B"/>
                </a:solidFill>
                <a:latin typeface="Calibri"/>
              </a:rPr>
              <a:t>Read a recipe like a pro: scaling, mise en place, and timing.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Food Safety and the Temperature Danger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Keep food out of the temperature range where bacteria multiply fastest.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Danger zone: 40-140 deg F (4-60 deg C); limit total time there to under 2 hours.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An instant-read thermometer is the only reliable doneness test - buy one.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Thaw in the fridge, in cold water, or in the microwave - never on the counter.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Cool hot leftovers quickly (shallow containers) before refrigerating.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Technique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2999232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980944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971800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Chill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264408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Keep your fridge at or below 40 deg F; verify with a fridge thermometer.</a:t>
            </a:r>
          </a:p>
        </p:txBody>
      </p:sp>
      <p:sp>
        <p:nvSpPr>
          <p:cNvPr id="16" name="Oval 15"/>
          <p:cNvSpPr/>
          <p:nvPr/>
        </p:nvSpPr>
        <p:spPr>
          <a:xfrm>
            <a:off x="6766560" y="3758183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7398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730751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Separate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023359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Store raw meat on the bottom shelf so it cannot drip onto other food.</a:t>
            </a:r>
          </a:p>
        </p:txBody>
      </p:sp>
      <p:sp>
        <p:nvSpPr>
          <p:cNvPr id="20" name="Oval 19"/>
          <p:cNvSpPr/>
          <p:nvPr/>
        </p:nvSpPr>
        <p:spPr>
          <a:xfrm>
            <a:off x="6766560" y="4517136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49884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4489703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782312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Use a thermometer to hit safe internal temps (see Reference Library).</a:t>
            </a:r>
          </a:p>
        </p:txBody>
      </p:sp>
      <p:sp>
        <p:nvSpPr>
          <p:cNvPr id="24" name="Oval 23"/>
          <p:cNvSpPr/>
          <p:nvPr/>
        </p:nvSpPr>
        <p:spPr>
          <a:xfrm>
            <a:off x="6766560" y="5276088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52578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FBF6EC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5248655"/>
            <a:ext cx="3794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 i="0">
                <a:solidFill>
                  <a:srgbClr val="2B2118"/>
                </a:solidFill>
                <a:latin typeface="Calibri"/>
              </a:rPr>
              <a:t>Cool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541264"/>
            <a:ext cx="3794760" cy="466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3D352B"/>
                </a:solidFill>
                <a:latin typeface="Calibri"/>
              </a:rPr>
              <a:t>Get leftovers below 40 deg F within a couple hours; divide into shallow pans.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Sanitation and Cross-Contamination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Stop harmful bacteria from moving between raw foods, surfaces, and ready-to-eat foods.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Use separate boards: one for raw protein, one for produce and ready-to-eat foods.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Wash hands 20 seconds with soap after handling raw meat, eggs, or trash.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Clean removes visible soil; sanitizing kills microbes - do both on surfaces.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Be aware of the top allergens when cooking for others (e.g., nuts, shellfish, dairy).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Slicing salad on the same board you just cut raw chicken 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Wiping hands on a towel instead of washing them.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Tasting with a spoon and double-dipping it back into the pot.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Setting Up Your Station and the Mise en Place Mindset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Organize a workspace so cooking is calm execution, not a scramble.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Prep everything before you turn on a burner; reading mid-cook costs you control.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Keep a 'garbage bowl' on the counter to keep your board clear.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Set a damp towel under your cutting board so it cannot slip.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6B8E5A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Clean as you go - idle minutes are for washing, wiping, and resetting.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Starting to cook with half the ingredients still in the fridge.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Letting scraps and dirty tools pile up until the station is unusable.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Hunting for a tool while food burns.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LESSON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 i="0">
                <a:solidFill>
                  <a:srgbClr val="2B2118"/>
                </a:solidFill>
                <a:latin typeface="Georgia"/>
              </a:rPr>
              <a:t>Reading, Scaling, and Timing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0" i="1">
                <a:solidFill>
                  <a:srgbClr val="6B8E5A"/>
                </a:solidFill>
                <a:latin typeface="Calibri"/>
              </a:rPr>
              <a:t>Objective: Read a recipe like a plan, not a story, and run it on a timeline.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5486400" cy="38404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420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Key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99232"/>
            <a:ext cx="49834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Read the whole recipe twice before starting; note the prep hidden inside the steps.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Work by weight (grams) when you can - it scales cleanly and travels between recipes.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Build a backward timeline from serving time so components finish together.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Salt and cook times do not scale perfectly; taste and check, do not just multiply.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331720"/>
            <a:ext cx="484632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542032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B5651D"/>
                </a:solidFill>
                <a:latin typeface="Calibri"/>
              </a:rPr>
              <a:t>Watch out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1752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Discovering 'marinate overnight' an hour before dinner.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Doubling a recipe in a pan too small to brown - everything steams.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B5651D"/>
                </a:solidFill>
                <a:latin typeface="Calibri"/>
              </a:rPr>
              <a:t>- </a:t>
            </a:r>
            <a:r>
              <a:rPr sz="1350">
                <a:solidFill>
                  <a:srgbClr val="3D352B"/>
                </a:solidFill>
                <a:latin typeface="Calibri"/>
              </a:rPr>
              <a:t>Following volumes for baking instead of weighing.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01  -  WEEKS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Practice &amp;  homework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231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Deep-clean and reorganize your kitchen using FIFO; photograph before/after.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80" y="2423160"/>
            <a:ext cx="548640" cy="548640"/>
          </a:xfrm>
          <a:prstGeom prst="ellipse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Print the Temperature &amp; Doneness guide and post it inside a cabinet door.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148840"/>
            <a:ext cx="3429000" cy="3383280"/>
          </a:xfrm>
          <a:prstGeom prst="roundRect">
            <a:avLst/>
          </a:prstGeom>
          <a:solidFill>
            <a:srgbClr val="F0E6D2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423160"/>
            <a:ext cx="548640" cy="548640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4231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200" b="1" i="0">
                <a:solidFill>
                  <a:srgbClr val="FBF6EC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0" i="0">
                <a:solidFill>
                  <a:srgbClr val="3D352B"/>
                </a:solidFill>
                <a:latin typeface="Calibri"/>
              </a:rPr>
              <a:t>Write your own one-page kitchen safety checklist and follow it for one week.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3D352B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MODULE 01  -  WEEKS 1-2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1" i="0">
                <a:solidFill>
                  <a:srgbClr val="2B2118"/>
                </a:solidFill>
                <a:latin typeface="Georgia"/>
              </a:rPr>
              <a:t>Watch &amp;  learn (free)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331720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1252728" y="2423160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224942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Internet Shaquille (efficiency &amp; fundamentals)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06039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https://www.youtube.com/@internetshaquille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638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3392424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1252728" y="3483864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Adam Ragusea (practical home technique)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666744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https://www.youtube.com/@aragusea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24528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4453128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1252728" y="4544568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70832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USDA FSIS - Safe Minimum Internal Temperature Chart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727448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https://www.fsis.usda.gov/food-safety/safe-food-handling-and-preparation/food-safety-basics/safe-temperature-chart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85232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5513832"/>
            <a:ext cx="457200" cy="457200"/>
          </a:xfrm>
          <a:prstGeom prst="ellipse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1252728" y="5605272"/>
            <a:ext cx="164592" cy="256032"/>
          </a:xfrm>
          <a:prstGeom prst="triangle">
            <a:avLst/>
          </a:prstGeom>
          <a:solidFill>
            <a:srgbClr val="D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43153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FoodSafety.gov - Safe Minimum Internal Temperatures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5788152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 i="0">
                <a:solidFill>
                  <a:srgbClr val="B5651D"/>
                </a:solidFill>
                <a:latin typeface="Calibri"/>
              </a:rPr>
              <a:t>https://www.foodsafety.gov/food-safety-charts/safe-minimum-internal-temperatures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1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 i="0">
                <a:solidFill>
                  <a:srgbClr val="F0E6D2"/>
                </a:solidFill>
                <a:latin typeface="Calibri"/>
              </a:rPr>
              <a:t>© 2026 Tin Roof Tek, LLC</a:t>
            </a:r>
          </a:p>
        </p:txBody>
      </p:sp>
      <p:sp>
        <p:nvSpPr>
          <p:cNvPr id="4" name="Oval 3"/>
          <p:cNvSpPr/>
          <p:nvPr/>
        </p:nvSpPr>
        <p:spPr>
          <a:xfrm>
            <a:off x="5175504" y="1234440"/>
            <a:ext cx="1828800" cy="1828800"/>
          </a:xfrm>
          <a:prstGeom prst="ellipse">
            <a:avLst/>
          </a:prstGeom>
          <a:solidFill>
            <a:srgbClr val="2B2118"/>
          </a:solidFill>
          <a:ln w="31750">
            <a:solidFill>
              <a:srgbClr val="D8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04104" y="1463040"/>
            <a:ext cx="1371600" cy="1371600"/>
          </a:xfrm>
          <a:prstGeom prst="ellipse">
            <a:avLst/>
          </a:prstGeom>
          <a:solidFill>
            <a:srgbClr val="2B2118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75504" y="182880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0" i="1">
                <a:solidFill>
                  <a:srgbClr val="D8A24A"/>
                </a:solidFill>
                <a:latin typeface="Georgia"/>
              </a:rPr>
              <a:t>chef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 i="1">
                <a:solidFill>
                  <a:srgbClr val="FBF6EC"/>
                </a:solidFill>
                <a:latin typeface="Georgia"/>
              </a:rPr>
              <a:t>A safe, clean, organized kitchen is the platform every other skill stands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00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700" b="0" i="0">
                <a:solidFill>
                  <a:srgbClr val="F0E6D2"/>
                </a:solidFill>
                <a:latin typeface="Calibri"/>
              </a:rPr>
              <a:t>Next up - Module 02: Knife Skills &amp; Mise en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200" b="1" i="0">
                <a:solidFill>
                  <a:srgbClr val="B5651D"/>
                </a:solidFill>
                <a:latin typeface="Calibri"/>
              </a:rPr>
              <a:t>FROM ZERO TO PRO  -  THE SELF-TAUGHT CHEF PROGRAM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