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F0E6D2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Oval 3"/>
          <p:cNvSpPr/>
          <p:nvPr/>
        </p:nvSpPr>
        <p:spPr>
          <a:xfrm>
            <a:off x="9784080" y="640080"/>
            <a:ext cx="1828800" cy="1828800"/>
          </a:xfrm>
          <a:prstGeom prst="ellipse">
            <a:avLst/>
          </a:prstGeom>
          <a:solidFill>
            <a:srgbClr val="2B2118"/>
          </a:solidFill>
          <a:ln w="31750">
            <a:solidFill>
              <a:srgbClr val="D8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12680" y="868680"/>
            <a:ext cx="1371600" cy="1371600"/>
          </a:xfrm>
          <a:prstGeom prst="ellipse">
            <a:avLst/>
          </a:prstGeom>
          <a:solidFill>
            <a:srgbClr val="2B2118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0" y="128016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0" i="1">
                <a:solidFill>
                  <a:srgbClr val="D8A24A"/>
                </a:solidFill>
                <a:latin typeface="Georgia"/>
              </a:rPr>
              <a:t>chef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 i="0">
                <a:solidFill>
                  <a:srgbClr val="D8A24A"/>
                </a:solidFill>
                <a:latin typeface="Calibri"/>
              </a:rPr>
              <a:t>FROM ZERO TO PRO  -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600" b="1" i="0">
                <a:solidFill>
                  <a:srgbClr val="FBF6EC"/>
                </a:solidFill>
                <a:latin typeface="Georgia"/>
              </a:rPr>
              <a:t>Flavor, Seasoning &amp; Menu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0" i="1">
                <a:solidFill>
                  <a:srgbClr val="F0E6D2"/>
                </a:solidFill>
                <a:latin typeface="Calibri"/>
              </a:rPr>
              <a:t>Move from following recipes to composing dishes by learning to taste, balance, and 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Weeks 20-21  -  watch, study, cook, reflect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11  -  WEEKS 20-21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By the end of this module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0574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20824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Season confidently with salt, acid, fat, and heat.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898648"/>
            <a:ext cx="457200" cy="45720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62072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Diagnose and fix an under-seasoned or unbalanced dish.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739896"/>
            <a:ext cx="457200" cy="45720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216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0332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Build flavor with aromatics, herbs, spices, and umami.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581144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628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544568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Design a small, coherent multi-course menu.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11.1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Salt, Fat, Acid, Heat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Use the four levers that make food taste good.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Salt amplifies flavor; most home cooking is under-salted.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Fat carries flavor and builds richness and texture.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Acid brightens and balances; it is the most often missing element.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Season throughout and taste constantly, not just at the 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Salting only at the end instead of in layers.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Forgetting acid, leaving rich dishes heavy and dull.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Fearing salt and serving flat food.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11.2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Tasting and Adjusting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Build the habit of tasting and diagnosing a dish.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Taste at every stage; the spoon is your most important tool.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Ask 'what does this need?' and change one thing at a time.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Flat = salt, heavy = acid, thin = fat/reduction, harsh = time/sweetness.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Adjusting is a loop: taste, diagnose, adjust, taste again.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Not tasting until the food is plated.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Changing several things at once and losing track of cause and effect.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Over-correcting past the balance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11.3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Building Flavor Bases and Umami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Layer aromatics, spices, and umami for depth.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Start from a slowly softened aromatic base (mirepoix, sofrito, trinity).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Toast whole spices and bloom ground spices in fat for more flavor.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Umami (tomato, mushroom, cheese, soy, fish sauce, stock) adds savory depth.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Finish with fresh contrast - herbs, acid, crunch.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Rushing the aromatic base so it never builds flavor.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Adding spices raw at the end instead of blooming them.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Relying on salt alone for depth instead of umami.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11.4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Menu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Design a small, coherent multi-course menu.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Vary richness, texture, temperature, and color across courses.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Balance a heavy course with a lighter, brighter one.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Design for logistics - not everything can finish at once.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Use seasonal, affordable ingredients and write a prep timeline.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Three rich courses in a row that exhaust the palate.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A menu where every dish needs the oven at 7:00 sharp.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Ignoring season and cost, making the meal expensive and flat.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11  -  WEEKS 20-21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Practice &amp;  homework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423160"/>
            <a:ext cx="548640" cy="5486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Take one bland dish and fix it using only salt, acid, fat, and heat; document each 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80" y="2423160"/>
            <a:ext cx="548640" cy="54864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Develop one original dish and write it as a formal recipe card (template provided).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0" y="2423160"/>
            <a:ext cx="548640" cy="54864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Design a three-course menu with a shopping list and timeline.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11  -  WEEKS 20-21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Watch &amp;  learn (free)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331720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1252728" y="2423160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224942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Ethan Chlebowski (the 'why' behind cooking)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06039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https://www.youtube.com/@EthanChlebowski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63824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3392424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1252728" y="3483864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Adam Ragusea (practical home technique)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666744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https://www.youtube.com/@aragusea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24528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7280" y="4453128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252728" y="4544568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370832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Internet Shaquille (efficiency &amp; fundamentals)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727448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https://www.youtube.com/@internetshaquille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F0E6D2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Oval 3"/>
          <p:cNvSpPr/>
          <p:nvPr/>
        </p:nvSpPr>
        <p:spPr>
          <a:xfrm>
            <a:off x="5175504" y="1234440"/>
            <a:ext cx="1828800" cy="1828800"/>
          </a:xfrm>
          <a:prstGeom prst="ellipse">
            <a:avLst/>
          </a:prstGeom>
          <a:solidFill>
            <a:srgbClr val="2B2118"/>
          </a:solidFill>
          <a:ln w="31750">
            <a:solidFill>
              <a:srgbClr val="D8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04104" y="1463040"/>
            <a:ext cx="1371600" cy="1371600"/>
          </a:xfrm>
          <a:prstGeom prst="ellipse">
            <a:avLst/>
          </a:prstGeom>
          <a:solidFill>
            <a:srgbClr val="2B2118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75504" y="18288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0" i="1">
                <a:solidFill>
                  <a:srgbClr val="D8A24A"/>
                </a:solidFill>
                <a:latin typeface="Georgia"/>
              </a:rPr>
              <a:t>chef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 i="1">
                <a:solidFill>
                  <a:srgbClr val="FBF6EC"/>
                </a:solidFill>
                <a:latin typeface="Georgia"/>
              </a:rPr>
              <a:t>Move from following recipes to composing dishes by learning to taste, balance, and design.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700" b="0" i="0">
                <a:solidFill>
                  <a:srgbClr val="F0E6D2"/>
                </a:solidFill>
                <a:latin typeface="Calibri"/>
              </a:rPr>
              <a:t>Next up - Module 12: The Professional Kitchen: Line, Plating &amp; Career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FROM ZERO TO PRO  -  THE SELF-TAUGHT CHEF PROGRAM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