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@BrianLagerstrom" TargetMode="External"/><Relationship Id="rId3" Type="http://schemas.openxmlformats.org/officeDocument/2006/relationships/hyperlink" Target="https://www.youtube.com/channel/UCxD2E-bVoUbaVFL0Q3PvJTg" TargetMode="External"/><Relationship Id="rId4" Type="http://schemas.openxmlformats.org/officeDocument/2006/relationships/hyperlink" Target="https://www.youtube.com/@ProHomeCooks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F0E6D2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Oval 3"/>
          <p:cNvSpPr/>
          <p:nvPr/>
        </p:nvSpPr>
        <p:spPr>
          <a:xfrm>
            <a:off x="9784080" y="640080"/>
            <a:ext cx="1828800" cy="1828800"/>
          </a:xfrm>
          <a:prstGeom prst="ellipse">
            <a:avLst/>
          </a:prstGeom>
          <a:solidFill>
            <a:srgbClr val="2B2118"/>
          </a:solidFill>
          <a:ln w="31750">
            <a:solidFill>
              <a:srgbClr val="D8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868680"/>
            <a:ext cx="1371600" cy="1371600"/>
          </a:xfrm>
          <a:prstGeom prst="ellipse">
            <a:avLst/>
          </a:prstGeom>
          <a:solidFill>
            <a:srgbClr val="2B2118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128016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0" i="1">
                <a:solidFill>
                  <a:srgbClr val="D8A24A"/>
                </a:solidFill>
                <a:latin typeface="Georgia"/>
              </a:rPr>
              <a:t>chef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600" b="1" i="0">
                <a:solidFill>
                  <a:srgbClr val="D8A24A"/>
                </a:solidFill>
                <a:latin typeface="Calibri"/>
              </a:rPr>
              <a:t>FROM ZERO TO PRO  -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4600" b="1" i="0">
                <a:solidFill>
                  <a:srgbClr val="FBF6EC"/>
                </a:solidFill>
                <a:latin typeface="Georgia"/>
              </a:rPr>
              <a:t>The Professional Kitchen: Line, Plating &amp; Career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9966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000" b="0" i="1">
                <a:solidFill>
                  <a:srgbClr val="F0E6D2"/>
                </a:solidFill>
                <a:latin typeface="Calibri"/>
              </a:rPr>
              <a:t>Bring it all together at professional pace: timing, plating, and a real path into the industry.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</a:rPr>
              <a:t>Weeks 22-24  -  watch, study, cook, reflect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12  -  WEEKS 22-24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By the end of this module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0574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391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020824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Run a 'service': cook multiple dishes to land together, hot and on time.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898648"/>
            <a:ext cx="457200" cy="45720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803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862072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Plate with composition, height, sauce, and garnish.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739896"/>
            <a:ext cx="457200" cy="45720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7216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703320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Understand the brigade system and kitchen roles.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581144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56285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544568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Plan a realistic path: stages, apprenticeships, portfolio, certifications.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12.1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Mise en Place at Scale and Timing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Cook multiple dishes so they finish together, hot and on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Prep and arrange all components before service begins.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Cook backward from serving time; know what holds and what fires late.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'Firing' = starting final cooks so components peak together.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Sequencing multiple dishes is a practiced skill, not a talent.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Technique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0" y="2999232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9809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971800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Prep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264408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Make every component you can ahead; label and store.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0" y="3758183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73989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730751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Timeline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023359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Write a backward schedule from serving time.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0" y="4517136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49884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489703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Set the station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782312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Arrange tools and components for the firing order.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0" y="5276088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52578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5248655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Fire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5541264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Start final cooks in sequence so everything lands together.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12.2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Plating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Plate with composition, height, sauce, and garnish.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Establish a focal point and use negative space.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Build height and layers; place sauce with intention.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Garnish must be edible and relevant, not mere decoration.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Wipe the plate clean; every element should earn its place.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Watch out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017520"/>
            <a:ext cx="42976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Overcrowding the plate so nothing stands out.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Drowning the dish in sauce instead of placing it.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Garnishing with inedible or pointless flourishes.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12.3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The Brigade and Kitchen Roles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Understand how professional kitchens are organized.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The brigade is the kitchen's hierarchy of stations and roles.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Chef de cuisine leads; sous chef is second; chefs de partie run stations.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Stations include saucier, poissonnier, garde manger, and patissier.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Clear roles and crisp communication keep service coordinated.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Watch out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017520"/>
            <a:ext cx="42976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Assuming a kitchen is a free-for-all rather than a structured team.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Not knowing the common station names when you walk in.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Underestimating how much teamwork drives a service.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12.4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Your Career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Plan a realistic route into professional cooking.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Many chefs are self-taught; demonstrated skill and reliability matter most.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A stage (working trial) is a common way in - and a way to learn.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Build a portfolio: photos, menus, and recipes of your work.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Pick a target - line cook, private chef, caterer - and plan toward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Watch out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017520"/>
            <a:ext cx="42976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Waiting to feel 'ready' instead of seeking real kitchen experience.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No portfolio or record of what you can do.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Drifting without a concrete next step or target role.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12  -  WEEKS 22-24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Practice &amp;  homework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423160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Cook a full three-course meal for guests, plated, all landing on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54880" y="2423160"/>
            <a:ext cx="548640" cy="54864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Photograph your three best plates and write a short tasting note for each.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0" y="2423160"/>
            <a:ext cx="548640" cy="54864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Draft a 12-month plan: skills to drill, a target stage, and a portfolio outline.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12  -  WEEKS 22-24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Watch &amp;  learn (free)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331720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5400000">
            <a:off x="1252728" y="2423160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2249424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  <a:hlinkClick r:id="rId2"/>
              </a:rPr>
              <a:t>Brian Lagerstrom (ex-restaurant pro, approachable)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606039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  <a:hlinkClick r:id="rId2"/>
              </a:rPr>
              <a:t>https://www.youtube.com/@BrianLagerstrom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163824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3392424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5400000">
            <a:off x="1252728" y="3483864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83080" y="3310128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  <a:hlinkClick r:id="rId3"/>
              </a:rPr>
              <a:t>ChefSteps (modern technique &amp; sous vide)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666744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  <a:hlinkClick r:id="rId3"/>
              </a:rPr>
              <a:t>https://www.youtube.com/channel/UCxD2E-bVoUbaVFL0Q3PvJTg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24528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7280" y="4453128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5400000">
            <a:off x="1252728" y="4544568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83080" y="4370832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  <a:hlinkClick r:id="rId4"/>
              </a:rPr>
              <a:t>Pro Home Cooks (skill-building series)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727448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  <a:hlinkClick r:id="rId4"/>
              </a:rPr>
              <a:t>https://www.youtube.com/@ProHomeCooks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F0E6D2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Oval 3"/>
          <p:cNvSpPr/>
          <p:nvPr/>
        </p:nvSpPr>
        <p:spPr>
          <a:xfrm>
            <a:off x="5175504" y="1234440"/>
            <a:ext cx="1828800" cy="1828800"/>
          </a:xfrm>
          <a:prstGeom prst="ellipse">
            <a:avLst/>
          </a:prstGeom>
          <a:solidFill>
            <a:srgbClr val="2B2118"/>
          </a:solidFill>
          <a:ln w="31750">
            <a:solidFill>
              <a:srgbClr val="D8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04104" y="1463040"/>
            <a:ext cx="1371600" cy="1371600"/>
          </a:xfrm>
          <a:prstGeom prst="ellipse">
            <a:avLst/>
          </a:prstGeom>
          <a:solidFill>
            <a:srgbClr val="2B2118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75504" y="182880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0" i="1">
                <a:solidFill>
                  <a:srgbClr val="D8A24A"/>
                </a:solidFill>
                <a:latin typeface="Georgia"/>
              </a:rPr>
              <a:t>chef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1" i="1">
                <a:solidFill>
                  <a:srgbClr val="FBF6EC"/>
                </a:solidFill>
                <a:latin typeface="Georgia"/>
              </a:rPr>
              <a:t>Bring it all together at professional pace: timing, plating, and a real path into the industry.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700" b="0" i="0">
                <a:solidFill>
                  <a:srgbClr val="F0E6D2"/>
                </a:solidFill>
                <a:latin typeface="Calibri"/>
              </a:rPr>
              <a:t>You've reached the end - now go cook, and keep a journal.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FROM ZERO TO PRO  -  THE SELF-TAUGHT CHEF PROGRAM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