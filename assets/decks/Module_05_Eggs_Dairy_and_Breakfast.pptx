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watch?v=As6AY_ChJuI" TargetMode="External"/><Relationship Id="rId3" Type="http://schemas.openxmlformats.org/officeDocument/2006/relationships/hyperlink" Target="https://www.youtube.com/playlist?list=PL435B8F0CB00AF764" TargetMode="External"/><Relationship Id="rId4" Type="http://schemas.openxmlformats.org/officeDocument/2006/relationships/hyperlink" Target="https://www.youtube.com/@gordonramsay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F0E6D2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Oval 3"/>
          <p:cNvSpPr/>
          <p:nvPr/>
        </p:nvSpPr>
        <p:spPr>
          <a:xfrm>
            <a:off x="9784080" y="640080"/>
            <a:ext cx="1828800" cy="1828800"/>
          </a:xfrm>
          <a:prstGeom prst="ellipse">
            <a:avLst/>
          </a:prstGeom>
          <a:solidFill>
            <a:srgbClr val="2B2118"/>
          </a:solidFill>
          <a:ln w="31750">
            <a:solidFill>
              <a:srgbClr val="D8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868680"/>
            <a:ext cx="1371600" cy="1371600"/>
          </a:xfrm>
          <a:prstGeom prst="ellipse">
            <a:avLst/>
          </a:prstGeom>
          <a:solidFill>
            <a:srgbClr val="2B2118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0" y="128016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0" i="1">
                <a:solidFill>
                  <a:srgbClr val="D8A24A"/>
                </a:solidFill>
                <a:latin typeface="Georgia"/>
              </a:rPr>
              <a:t>chef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600" b="1" i="0">
                <a:solidFill>
                  <a:srgbClr val="D8A24A"/>
                </a:solidFill>
                <a:latin typeface="Calibri"/>
              </a:rPr>
              <a:t>FROM ZERO TO PRO  -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4600" b="1" i="0">
                <a:solidFill>
                  <a:srgbClr val="FBF6EC"/>
                </a:solidFill>
                <a:latin typeface="Georgia"/>
              </a:rPr>
              <a:t>Eggs, Dairy &amp; Breakfast Mastery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26280"/>
            <a:ext cx="9966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000" b="0" i="1">
                <a:solidFill>
                  <a:srgbClr val="F0E6D2"/>
                </a:solidFill>
                <a:latin typeface="Calibri"/>
              </a:rPr>
              <a:t>Eggs are the classic test of a cook; gentle heat and timing are everything.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</a:rPr>
              <a:t>Week 9  -  watch, study, cook, reflect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MODULE 05  -  WEEK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2B2118"/>
                </a:solidFill>
                <a:latin typeface="Georgia"/>
              </a:rPr>
              <a:t>By the end of this module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0574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391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020824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Cook eggs every classic way: scrambled (French &amp; American), omelet, poached, fried, boiled.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898648"/>
            <a:ext cx="457200" cy="45720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803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862072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Understand custards, curds, and the danger of overheating dairy.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739896"/>
            <a:ext cx="457200" cy="45720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72160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703320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Make a simple pan crepe and pancake batter.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4581144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56285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544568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Plate a clean breakfast to order.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5.1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Understanding the Egg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Know how egg proteins behave so you can control texture.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Whites set ~150-160 deg F; overheating makes eggs rubbery and weepy.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Most egg failures are simply too much heat - go gentle and stop early.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Eggs leaven, thicken, emulsify, and bind across all of cooking.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Fresh eggs poach best; older whites whip to greater volume.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Watch out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017520"/>
            <a:ext cx="42976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Cooking eggs over high heat 'to save time'.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Walking away - eggs go from perfect to overcooked in seconds.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Salting whipped whites early, which slows the foam.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5.2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Scrambles and Omelets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Make soft scrambles and a clean rolled omelet.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Low heat plus constant stirring = small, creamy curds.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Pull eggs off heat slightly underdone; carryover finishes them.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A French omelet is pale and tender, with no browning.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Season at the end so salt does not toughen the eggs early.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Technique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0" y="2999232"/>
            <a:ext cx="365760" cy="36576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98094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971800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Beat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264408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Whisk eggs until uniform; no streaks of white.</a:t>
            </a:r>
          </a:p>
        </p:txBody>
      </p:sp>
      <p:sp>
        <p:nvSpPr>
          <p:cNvPr id="16" name="Oval 15"/>
          <p:cNvSpPr/>
          <p:nvPr/>
        </p:nvSpPr>
        <p:spPr>
          <a:xfrm>
            <a:off x="6766560" y="3758183"/>
            <a:ext cx="365760" cy="36576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373989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730751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Heat gently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023359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Melt butter in a nonstick pan over low-medium heat.</a:t>
            </a:r>
          </a:p>
        </p:txBody>
      </p:sp>
      <p:sp>
        <p:nvSpPr>
          <p:cNvPr id="20" name="Oval 19"/>
          <p:cNvSpPr/>
          <p:nvPr/>
        </p:nvSpPr>
        <p:spPr>
          <a:xfrm>
            <a:off x="6766560" y="4517136"/>
            <a:ext cx="365760" cy="36576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449884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489703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Stir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4782312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Stir constantly for creamy curds, easing off as they set.</a:t>
            </a:r>
          </a:p>
        </p:txBody>
      </p:sp>
      <p:sp>
        <p:nvSpPr>
          <p:cNvPr id="24" name="Oval 23"/>
          <p:cNvSpPr/>
          <p:nvPr/>
        </p:nvSpPr>
        <p:spPr>
          <a:xfrm>
            <a:off x="6766560" y="5276088"/>
            <a:ext cx="365760" cy="36576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52578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5248655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Roll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5541264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Tilt the pan and roll the omelet onto the plate, seam down.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5.3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Poached, Fried, and Boiled Eggs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Cook eggs to order: runny poach, crisp fry, jammy boil.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Poach fresh eggs in barely-simmering water; 3-4 minutes for a runny yolk.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Fried eggs: low and covered for sunny-side-up; hotter for crispy edges.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Boiled: ~6-7 min jammy, ~9-12 min fully set, then ice-shock.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Ice-shocking stops carryover and eases peeling.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Technique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0" y="2999232"/>
            <a:ext cx="365760" cy="36576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98094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971800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Swirl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264408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Create a gentle vortex in barely-simmering water.</a:t>
            </a:r>
          </a:p>
        </p:txBody>
      </p:sp>
      <p:sp>
        <p:nvSpPr>
          <p:cNvPr id="16" name="Oval 15"/>
          <p:cNvSpPr/>
          <p:nvPr/>
        </p:nvSpPr>
        <p:spPr>
          <a:xfrm>
            <a:off x="6766560" y="3758183"/>
            <a:ext cx="365760" cy="36576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373989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730751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Slip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023359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Lower the egg in close to the water; let the white wrap the yolk.</a:t>
            </a:r>
          </a:p>
        </p:txBody>
      </p:sp>
      <p:sp>
        <p:nvSpPr>
          <p:cNvPr id="20" name="Oval 19"/>
          <p:cNvSpPr/>
          <p:nvPr/>
        </p:nvSpPr>
        <p:spPr>
          <a:xfrm>
            <a:off x="6766560" y="4517136"/>
            <a:ext cx="365760" cy="36576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449884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489703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4782312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Cook 3-4 minutes for a runny center.</a:t>
            </a:r>
          </a:p>
        </p:txBody>
      </p:sp>
      <p:sp>
        <p:nvSpPr>
          <p:cNvPr id="24" name="Oval 23"/>
          <p:cNvSpPr/>
          <p:nvPr/>
        </p:nvSpPr>
        <p:spPr>
          <a:xfrm>
            <a:off x="6766560" y="5276088"/>
            <a:ext cx="365760" cy="36576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52578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5248655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Lift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5541264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Remove with a slotted spoon and drain on a towel.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5.4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Custards and the Griddle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Make a smooth custard and cook crepes and pancakes.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Temper eggs - add hot liquid slowly - to avoid scrambling.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Cook custard to nappe (~170-180 deg F): it coats the back of a spoon.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Strain custards for a silky texture; chill promptly.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Pancakes: flip once when bubbles form and edges set.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Technique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0" y="2999232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98094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971800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Temper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264408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Whisk a little hot milk into the yolks to warm them.</a:t>
            </a:r>
          </a:p>
        </p:txBody>
      </p:sp>
      <p:sp>
        <p:nvSpPr>
          <p:cNvPr id="16" name="Oval 15"/>
          <p:cNvSpPr/>
          <p:nvPr/>
        </p:nvSpPr>
        <p:spPr>
          <a:xfrm>
            <a:off x="6766560" y="3758183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373989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730751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Return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023359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Pour back into the pot over low heat.</a:t>
            </a:r>
          </a:p>
        </p:txBody>
      </p:sp>
      <p:sp>
        <p:nvSpPr>
          <p:cNvPr id="20" name="Oval 19"/>
          <p:cNvSpPr/>
          <p:nvPr/>
        </p:nvSpPr>
        <p:spPr>
          <a:xfrm>
            <a:off x="6766560" y="4517136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449884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489703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Stir to nappe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4782312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Stir constantly until it coats a spoon.</a:t>
            </a:r>
          </a:p>
        </p:txBody>
      </p:sp>
      <p:sp>
        <p:nvSpPr>
          <p:cNvPr id="24" name="Oval 23"/>
          <p:cNvSpPr/>
          <p:nvPr/>
        </p:nvSpPr>
        <p:spPr>
          <a:xfrm>
            <a:off x="6766560" y="5276088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52578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5248655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Strain and chill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5541264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Pass through a sieve and cool quickly.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MODULE 05  -  WEEK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2B2118"/>
                </a:solidFill>
                <a:latin typeface="Georgia"/>
              </a:rPr>
              <a:t>Practice &amp;  homework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429000" cy="33832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423160"/>
            <a:ext cx="548640" cy="5486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2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00400"/>
            <a:ext cx="2926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 i="0">
                <a:solidFill>
                  <a:srgbClr val="3D352B"/>
                </a:solidFill>
                <a:latin typeface="Calibri"/>
              </a:rPr>
              <a:t>Make a rolled French omelet with no browning; repeat until clean.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429000" cy="33832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54880" y="2423160"/>
            <a:ext cx="548640" cy="54864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4231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2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2926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 i="0">
                <a:solidFill>
                  <a:srgbClr val="3D352B"/>
                </a:solidFill>
                <a:latin typeface="Calibri"/>
              </a:rPr>
              <a:t>Poach two eggs with set whites and runny yolks.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148840"/>
            <a:ext cx="3429000" cy="33832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0" y="2423160"/>
            <a:ext cx="548640" cy="54864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4231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2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200400"/>
            <a:ext cx="2926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 i="0">
                <a:solidFill>
                  <a:srgbClr val="3D352B"/>
                </a:solidFill>
                <a:latin typeface="Calibri"/>
              </a:rPr>
              <a:t>Make creme anglaise without scrambling it; strain and chill.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MODULE 05  -  WEEK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2B2118"/>
                </a:solidFill>
                <a:latin typeface="Georgia"/>
              </a:rPr>
              <a:t>Watch &amp;  learn (free)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331720"/>
            <a:ext cx="457200" cy="457200"/>
          </a:xfrm>
          <a:prstGeom prst="ellipse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5400000">
            <a:off x="1252728" y="2423160"/>
            <a:ext cx="164592" cy="256032"/>
          </a:xfrm>
          <a:prstGeom prst="triangle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3080" y="2249424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  <a:hlinkClick r:id="rId2"/>
              </a:rPr>
              <a:t>Jacques Pepin - The Secret to Perfectly Cooked Eggs (KQED)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606039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  <a:hlinkClick r:id="rId2"/>
              </a:rPr>
              <a:t>https://www.youtube.com/watch?v=As6AY_ChJuI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163824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3392424"/>
            <a:ext cx="457200" cy="457200"/>
          </a:xfrm>
          <a:prstGeom prst="ellipse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5400000">
            <a:off x="1252728" y="3483864"/>
            <a:ext cx="164592" cy="256032"/>
          </a:xfrm>
          <a:prstGeom prst="triangle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83080" y="3310128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  <a:hlinkClick r:id="rId3"/>
              </a:rPr>
              <a:t>Jacques Pepin - Techniques &amp; More (KQED)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666744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  <a:hlinkClick r:id="rId3"/>
              </a:rPr>
              <a:t>https://www.youtube.com/playlist?list=PL435B8F0CB00AF764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224528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7280" y="4453128"/>
            <a:ext cx="457200" cy="457200"/>
          </a:xfrm>
          <a:prstGeom prst="ellipse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5400000">
            <a:off x="1252728" y="4544568"/>
            <a:ext cx="164592" cy="256032"/>
          </a:xfrm>
          <a:prstGeom prst="triangle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83080" y="4370832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  <a:hlinkClick r:id="rId4"/>
              </a:rPr>
              <a:t>Gordon Ramsay (knife &amp; cooking basics)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4727448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  <a:hlinkClick r:id="rId4"/>
              </a:rPr>
              <a:t>https://www.youtube.com/@gordonramsay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F0E6D2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Oval 3"/>
          <p:cNvSpPr/>
          <p:nvPr/>
        </p:nvSpPr>
        <p:spPr>
          <a:xfrm>
            <a:off x="5175504" y="1234440"/>
            <a:ext cx="1828800" cy="1828800"/>
          </a:xfrm>
          <a:prstGeom prst="ellipse">
            <a:avLst/>
          </a:prstGeom>
          <a:solidFill>
            <a:srgbClr val="2B2118"/>
          </a:solidFill>
          <a:ln w="31750">
            <a:solidFill>
              <a:srgbClr val="D8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04104" y="1463040"/>
            <a:ext cx="1371600" cy="1371600"/>
          </a:xfrm>
          <a:prstGeom prst="ellipse">
            <a:avLst/>
          </a:prstGeom>
          <a:solidFill>
            <a:srgbClr val="2B2118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75504" y="182880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0" i="1">
                <a:solidFill>
                  <a:srgbClr val="D8A24A"/>
                </a:solidFill>
                <a:latin typeface="Georgia"/>
              </a:rPr>
              <a:t>chef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1" i="1">
                <a:solidFill>
                  <a:srgbClr val="FBF6EC"/>
                </a:solidFill>
                <a:latin typeface="Georgia"/>
              </a:rPr>
              <a:t>Eggs are the classic test of a cook; gentle heat and timing are everything.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0060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700" b="0" i="0">
                <a:solidFill>
                  <a:srgbClr val="F0E6D2"/>
                </a:solidFill>
                <a:latin typeface="Calibri"/>
              </a:rPr>
              <a:t>Next up - Module 06: Vegetables, Grains &amp; Legumes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FROM ZERO TO PRO  -  THE SELF-TAUGHT CHEF PROGRAM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