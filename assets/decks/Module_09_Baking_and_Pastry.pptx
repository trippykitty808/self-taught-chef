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@BrianLagerstrom" TargetMode="External"/><Relationship Id="rId3" Type="http://schemas.openxmlformats.org/officeDocument/2006/relationships/hyperlink" Target="https://www.youtube.com/@AmericasTestKitchen" TargetMode="External"/><Relationship Id="rId4" Type="http://schemas.openxmlformats.org/officeDocument/2006/relationships/hyperlink" Target="https://www.youtube.com/channel/UCxD2E-bVoUbaVFL0Q3PvJTg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F0E6D2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Oval 3"/>
          <p:cNvSpPr/>
          <p:nvPr/>
        </p:nvSpPr>
        <p:spPr>
          <a:xfrm>
            <a:off x="9784080" y="640080"/>
            <a:ext cx="1828800" cy="1828800"/>
          </a:xfrm>
          <a:prstGeom prst="ellipse">
            <a:avLst/>
          </a:prstGeom>
          <a:solidFill>
            <a:srgbClr val="2B2118"/>
          </a:solidFill>
          <a:ln w="31750">
            <a:solidFill>
              <a:srgbClr val="D8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868680"/>
            <a:ext cx="1371600" cy="1371600"/>
          </a:xfrm>
          <a:prstGeom prst="ellipse">
            <a:avLst/>
          </a:prstGeom>
          <a:solidFill>
            <a:srgbClr val="2B2118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128016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0" i="1">
                <a:solidFill>
                  <a:srgbClr val="D8A24A"/>
                </a:solidFill>
                <a:latin typeface="Georgia"/>
              </a:rPr>
              <a:t>chef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600" b="1" i="0">
                <a:solidFill>
                  <a:srgbClr val="D8A24A"/>
                </a:solidFill>
                <a:latin typeface="Calibri"/>
              </a:rPr>
              <a:t>FROM ZERO TO PRO  -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4600" b="1" i="0">
                <a:solidFill>
                  <a:srgbClr val="FBF6EC"/>
                </a:solidFill>
                <a:latin typeface="Georgia"/>
              </a:rPr>
              <a:t>Baking &amp; Pastry Fundamentals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9966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000" b="0" i="1">
                <a:solidFill>
                  <a:srgbClr val="F0E6D2"/>
                </a:solidFill>
                <a:latin typeface="Calibri"/>
              </a:rPr>
              <a:t>Baking is chemistry with deadlines; precision, ratios, and a scale replace improvisation.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</a:rPr>
              <a:t>Weeks 15-16  -  watch, study, cook, reflect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MODULE 09  -  WEEKS 15-16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2B2118"/>
                </a:solidFill>
                <a:latin typeface="Georgia"/>
              </a:rPr>
              <a:t>By the end of this module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0574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391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020824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Work by weight; understand baker's percentages.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898648"/>
            <a:ext cx="457200" cy="45720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803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862072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Make a basic bread dough and understand gluten and fermentation.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739896"/>
            <a:ext cx="457200" cy="45720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7216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703320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Produce pie dough, a simple cake, and a custard dessert.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581144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56285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544568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Understand leavening: yeast, chemical, and mechanical.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9.1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Precision and Baker's Percentages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Work by weight and understand baker's percentages.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Weigh ingredients in grams; volume measures are unreliable for baking.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Flour = 100 percent; every other ingredient is a percent of flour weight.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Hydration = water as a percent of flour; it controls dough texture.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A scale makes recipes repeatable and easy to scale.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Watch out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017520"/>
            <a:ext cx="42976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Measuring flour by the cup and getting wildly different amounts.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Eyeballing leaveners and salt, which need precision.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Ignoring ingredient temperature, which affects doughs and batters.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9.2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Bread and Gluten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Make a basic dough and understand gluten and fermentation.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Gluten is the stretchy protein network that gives bread structure.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Develop it by kneading or by fold-and-rest cycles.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Fermentation builds flavor; slower and cooler is deeper.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Proof until puffy and jiggly, then bake hot to set crust and crumb.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Technique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0" y="2999232"/>
            <a:ext cx="365760" cy="36576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9809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971800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Mix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264408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Combine flour, water, salt, and yeast into a shaggy dough.</a:t>
            </a:r>
          </a:p>
        </p:txBody>
      </p:sp>
      <p:sp>
        <p:nvSpPr>
          <p:cNvPr id="16" name="Oval 15"/>
          <p:cNvSpPr/>
          <p:nvPr/>
        </p:nvSpPr>
        <p:spPr>
          <a:xfrm>
            <a:off x="6766560" y="3758183"/>
            <a:ext cx="365760" cy="36576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73989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730751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Develop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023359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Knead or do stretch-and-folds to build gluten.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0" y="4517136"/>
            <a:ext cx="365760" cy="36576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49884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489703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Ferment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782312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Let it rise until roughly doubled and airy.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0" y="5276088"/>
            <a:ext cx="365760" cy="36576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52578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5248655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Shape and bake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5541264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Shape, proof, and bake in a hot oven.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9.3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Pie and Tart Dough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Make a flaky, all-butter dough and blind-bake a shell.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Keep the butter cold and in pieces for flaky layers.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3-2-1 by weight: flour, fat, water.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Add minimal water and do not overwork the dough.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Rest cold before rolling; blind-bake shells for wet fillings.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Technique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0" y="2999232"/>
            <a:ext cx="365760" cy="36576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9809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971800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Cut in fat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264408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Cut cold butter into flour until pea-sized pieces remain.</a:t>
            </a:r>
          </a:p>
        </p:txBody>
      </p:sp>
      <p:sp>
        <p:nvSpPr>
          <p:cNvPr id="16" name="Oval 15"/>
          <p:cNvSpPr/>
          <p:nvPr/>
        </p:nvSpPr>
        <p:spPr>
          <a:xfrm>
            <a:off x="6766560" y="3758183"/>
            <a:ext cx="365760" cy="36576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73989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730751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Add water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023359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Sprinkle in just enough ice water to bring it together.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0" y="4517136"/>
            <a:ext cx="365760" cy="36576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49884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489703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Rest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782312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Chill the disc to relax gluten and firm the butter.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0" y="5276088"/>
            <a:ext cx="365760" cy="36576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52578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5248655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Roll and chill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5541264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Roll evenly, shape, chill, then blind-bake if needed.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9.4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Cakes and Custards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Bake a tender cake and set a simple custard dessert.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Creaming whips air into butter and sugar for a tender crumb.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Do not overmix after adding flour, or the cake turns tough.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Bake custards gently, often in a water bath, for even setting.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Custard is done when set at the edges but still jiggly in the center.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Watch out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017520"/>
            <a:ext cx="42976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Overmixing batter and getting a dense, rubbery cake.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Baking custard too hot, so it curdles and weeps.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Opening the oven early and collapsing a delicate cake.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MODULE 09  -  WEEKS 15-16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2B2118"/>
                </a:solidFill>
                <a:latin typeface="Georgia"/>
              </a:rPr>
              <a:t>Practice &amp;  homework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429000" cy="33832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423160"/>
            <a:ext cx="548640" cy="5486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3D352B"/>
                </a:solidFill>
                <a:latin typeface="Calibri"/>
              </a:rPr>
              <a:t>Bake a simple loaf by weight; log hydration and crumb.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429000" cy="33832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54880" y="2423160"/>
            <a:ext cx="548640" cy="54864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3D352B"/>
                </a:solidFill>
                <a:latin typeface="Calibri"/>
              </a:rPr>
              <a:t>Make an all-butter pie dough and blind-bake a shell.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148840"/>
            <a:ext cx="3429000" cy="33832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0" y="2423160"/>
            <a:ext cx="548640" cy="54864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2004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3D352B"/>
                </a:solidFill>
                <a:latin typeface="Calibri"/>
              </a:rPr>
              <a:t>Bake one cake by the creaming method and evaluate crumb.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MODULE 09  -  WEEKS 15-16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2B2118"/>
                </a:solidFill>
                <a:latin typeface="Georgia"/>
              </a:rPr>
              <a:t>Watch &amp;  learn (free)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331720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5400000">
            <a:off x="1252728" y="2423160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2249424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  <a:hlinkClick r:id="rId2"/>
              </a:rPr>
              <a:t>Brian Lagerstrom (ex-restaurant pro, approachable)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606039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  <a:hlinkClick r:id="rId2"/>
              </a:rPr>
              <a:t>https://www.youtube.com/@BrianLagerstrom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163824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3392424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5400000">
            <a:off x="1252728" y="3483864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83080" y="3310128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  <a:hlinkClick r:id="rId3"/>
              </a:rPr>
              <a:t>America's Test Kitchen (tested technique)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666744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  <a:hlinkClick r:id="rId3"/>
              </a:rPr>
              <a:t>https://www.youtube.com/@AmericasTestKitchen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224528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7280" y="4453128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5400000">
            <a:off x="1252728" y="4544568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83080" y="4370832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  <a:hlinkClick r:id="rId4"/>
              </a:rPr>
              <a:t>ChefSteps (modern technique &amp; sous vide)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727448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  <a:hlinkClick r:id="rId4"/>
              </a:rPr>
              <a:t>https://www.youtube.com/channel/UCxD2E-bVoUbaVFL0Q3PvJTg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F0E6D2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Oval 3"/>
          <p:cNvSpPr/>
          <p:nvPr/>
        </p:nvSpPr>
        <p:spPr>
          <a:xfrm>
            <a:off x="5175504" y="1234440"/>
            <a:ext cx="1828800" cy="1828800"/>
          </a:xfrm>
          <a:prstGeom prst="ellipse">
            <a:avLst/>
          </a:prstGeom>
          <a:solidFill>
            <a:srgbClr val="2B2118"/>
          </a:solidFill>
          <a:ln w="31750">
            <a:solidFill>
              <a:srgbClr val="D8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04104" y="1463040"/>
            <a:ext cx="1371600" cy="1371600"/>
          </a:xfrm>
          <a:prstGeom prst="ellipse">
            <a:avLst/>
          </a:prstGeom>
          <a:solidFill>
            <a:srgbClr val="2B2118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75504" y="182880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0" i="1">
                <a:solidFill>
                  <a:srgbClr val="D8A24A"/>
                </a:solidFill>
                <a:latin typeface="Georgia"/>
              </a:rPr>
              <a:t>chef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1" i="1">
                <a:solidFill>
                  <a:srgbClr val="FBF6EC"/>
                </a:solidFill>
                <a:latin typeface="Georgia"/>
              </a:rPr>
              <a:t>Baking is chemistry with deadlines; precision, ratios, and a scale replace improvisation.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006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700" b="0" i="0">
                <a:solidFill>
                  <a:srgbClr val="F0E6D2"/>
                </a:solidFill>
                <a:latin typeface="Calibri"/>
              </a:rPr>
              <a:t>Next up - Module 10: Global Cuisines: French, Italian, Asian &amp; Latin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FROM ZERO TO PRO  -  THE SELF-TAUGHT CHEF PROGRAM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